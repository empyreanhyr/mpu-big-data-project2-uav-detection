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313693639d4ada" /><Relationship Type="http://schemas.openxmlformats.org/officeDocument/2006/relationships/extended-properties" Target="/docProps/app.xml" Id="Ra8af775cbe31402e" /><Relationship Type="http://schemas.openxmlformats.org/officeDocument/2006/relationships/officeDocument" Target="/ppt/presentation.xml" Id="Ra455cbc0fa7d4e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b471d3da0b4516"/>
  </p:sldMasterIdLst>
  <p:notesMasterIdLst>
    <p:notesMasterId xmlns:r="http://schemas.openxmlformats.org/officeDocument/2006/relationships" r:id="R0e886adb3eb54108"/>
  </p:notesMasterIdLst>
  <p:sldIdLst>
    <p:sldId xmlns:r="http://schemas.openxmlformats.org/officeDocument/2006/relationships" id="256" r:id="R2f469167cf1f4744"/>
    <p:sldId xmlns:r="http://schemas.openxmlformats.org/officeDocument/2006/relationships" id="257" r:id="R3ff81cfbda4d4e09"/>
    <p:sldId xmlns:r="http://schemas.openxmlformats.org/officeDocument/2006/relationships" id="258" r:id="R504deaea7e194447"/>
    <p:sldId xmlns:r="http://schemas.openxmlformats.org/officeDocument/2006/relationships" id="259" r:id="R3ef71857209948a4"/>
    <p:sldId xmlns:r="http://schemas.openxmlformats.org/officeDocument/2006/relationships" id="260" r:id="R3e4c996805664ecf"/>
    <p:sldId xmlns:r="http://schemas.openxmlformats.org/officeDocument/2006/relationships" id="261" r:id="Rc05c9bd14781467f"/>
    <p:sldId xmlns:r="http://schemas.openxmlformats.org/officeDocument/2006/relationships" id="262" r:id="R5d33d5ec483e4b03"/>
    <p:sldId xmlns:r="http://schemas.openxmlformats.org/officeDocument/2006/relationships" id="263" r:id="Re9941988d92c424a"/>
    <p:sldId xmlns:r="http://schemas.openxmlformats.org/officeDocument/2006/relationships" id="264" r:id="R43df6d4dcd6b474d"/>
    <p:sldId xmlns:r="http://schemas.openxmlformats.org/officeDocument/2006/relationships" id="265" r:id="R514cccee7a8b43ff"/>
    <p:sldId xmlns:r="http://schemas.openxmlformats.org/officeDocument/2006/relationships" id="266" r:id="R47ec99ccb1fe4069"/>
    <p:sldId xmlns:r="http://schemas.openxmlformats.org/officeDocument/2006/relationships" id="267" r:id="R96f6d41ae01e4a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40b0af410c413b" /><Relationship Type="http://schemas.openxmlformats.org/officeDocument/2006/relationships/slideMaster" Target="/ppt/slideMasters/slideMaster1.xml" Id="R7fb471d3da0b4516" /><Relationship Type="http://schemas.openxmlformats.org/officeDocument/2006/relationships/notesMaster" Target="/ppt/notesMasters/notesMaster1.xml" Id="R0e886adb3eb54108" /><Relationship Type="http://schemas.openxmlformats.org/officeDocument/2006/relationships/presProps" Target="/ppt/presProps.xml" Id="Rc74f78b83c3b4b16" /><Relationship Type="http://schemas.openxmlformats.org/officeDocument/2006/relationships/tableStyles" Target="/ppt/tableStyles.xml" Id="Ref3cf5e86abe4872" /><Relationship Type="http://schemas.openxmlformats.org/officeDocument/2006/relationships/slide" Target="/ppt/slides/slide1.xml" Id="R2f469167cf1f4744" /><Relationship Type="http://schemas.openxmlformats.org/officeDocument/2006/relationships/slide" Target="/ppt/slides/slide2.xml" Id="R3ff81cfbda4d4e09" /><Relationship Type="http://schemas.openxmlformats.org/officeDocument/2006/relationships/slide" Target="/ppt/slides/slide3.xml" Id="R504deaea7e194447" /><Relationship Type="http://schemas.openxmlformats.org/officeDocument/2006/relationships/slide" Target="/ppt/slides/slide4.xml" Id="R3ef71857209948a4" /><Relationship Type="http://schemas.openxmlformats.org/officeDocument/2006/relationships/slide" Target="/ppt/slides/slide5.xml" Id="R3e4c996805664ecf" /><Relationship Type="http://schemas.openxmlformats.org/officeDocument/2006/relationships/slide" Target="/ppt/slides/slide6.xml" Id="Rc05c9bd14781467f" /><Relationship Type="http://schemas.openxmlformats.org/officeDocument/2006/relationships/slide" Target="/ppt/slides/slide7.xml" Id="R5d33d5ec483e4b03" /><Relationship Type="http://schemas.openxmlformats.org/officeDocument/2006/relationships/slide" Target="/ppt/slides/slide8.xml" Id="Re9941988d92c424a" /><Relationship Type="http://schemas.openxmlformats.org/officeDocument/2006/relationships/slide" Target="/ppt/slides/slide9.xml" Id="R43df6d4dcd6b474d" /><Relationship Type="http://schemas.openxmlformats.org/officeDocument/2006/relationships/slide" Target="/ppt/slides/slide10.xml" Id="R514cccee7a8b43ff" /><Relationship Type="http://schemas.openxmlformats.org/officeDocument/2006/relationships/slide" Target="/ppt/slides/slide11.xml" Id="R47ec99ccb1fe4069" /><Relationship Type="http://schemas.openxmlformats.org/officeDocument/2006/relationships/slide" Target="/ppt/slides/slide12.xml" Id="R96f6d41ae01e4a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31c14682eb48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a9995cf93c4582" /><Relationship Type="http://schemas.openxmlformats.org/officeDocument/2006/relationships/notesMaster" Target="/ppt/notesMasters/notesMaster1.xml" Id="Ra0854875aa8845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443ef4d9e44272" /><Relationship Type="http://schemas.openxmlformats.org/officeDocument/2006/relationships/notesMaster" Target="/ppt/notesMasters/notesMaster1.xml" Id="Rcf3beb392be640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bcb13abadd4b86" /><Relationship Type="http://schemas.openxmlformats.org/officeDocument/2006/relationships/notesMaster" Target="/ppt/notesMasters/notesMaster1.xml" Id="R4efc53b1488640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562b5b805a4ccd" /><Relationship Type="http://schemas.openxmlformats.org/officeDocument/2006/relationships/notesMaster" Target="/ppt/notesMasters/notesMaster1.xml" Id="R5467f5025efa46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39a47cc9db4384" /><Relationship Type="http://schemas.openxmlformats.org/officeDocument/2006/relationships/notesMaster" Target="/ppt/notesMasters/notesMaster1.xml" Id="R83bc60e2879f45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9c82b3773e469f" /><Relationship Type="http://schemas.openxmlformats.org/officeDocument/2006/relationships/notesMaster" Target="/ppt/notesMasters/notesMaster1.xml" Id="Re68b1ef2c92c4a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92713bc33542e7" /><Relationship Type="http://schemas.openxmlformats.org/officeDocument/2006/relationships/notesMaster" Target="/ppt/notesMasters/notesMaster1.xml" Id="Rc99a58e39df84c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e97dc5f7104eae" /><Relationship Type="http://schemas.openxmlformats.org/officeDocument/2006/relationships/notesMaster" Target="/ppt/notesMasters/notesMaster1.xml" Id="R5d9ce6c6887347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2af068ae9e4e8c" /><Relationship Type="http://schemas.openxmlformats.org/officeDocument/2006/relationships/notesMaster" Target="/ppt/notesMasters/notesMaster1.xml" Id="R330eb1b604614d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5e4b466da84cfe" /><Relationship Type="http://schemas.openxmlformats.org/officeDocument/2006/relationships/notesMaster" Target="/ppt/notesMasters/notesMaster1.xml" Id="R5a8bc8d74bc54e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31bf33217e4f19" /><Relationship Type="http://schemas.openxmlformats.org/officeDocument/2006/relationships/notesMaster" Target="/ppt/notesMasters/notesMaster1.xml" Id="Rc06068944f0e45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059f1d63434e08" /><Relationship Type="http://schemas.openxmlformats.org/officeDocument/2006/relationships/notesMaster" Target="/ppt/notesMasters/notesMaster1.xml" Id="Rb0c51c4934f54a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本汇报以仓库已核验结果为依据。报告快照已包含P2和数值诊断；本PPT另含最新红外序列参考。H10编译与设备测速未完成。资料：docs/PROJECT_STATUS.md；docs/report/report.tex；docs/results/infrared_fp32_reference_20261028.json。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对象是单类UAV原生框检测。B1只在layer1引入PConv；P2加入stride4分支，均使用版本固定的UAVYOLO适配器并保留端到端预测。PConv论文：https://arxiv.org/abs/2412.16986；官方YOLO26说明：https://docs.ultralytics.com/models/yolo26/。这里只说明假设与实际配置，不声称改进有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s/datasets/sirst_uavb_scene_holdout_v3/README.md；docs/datasets/SOURCES.md。作者来源：https://github.com/JN-Yang/PConv-SDloss-Data。原2400/600发布划分有496幅验证图像与训练图像像素完全相同，另3组冲突标签。当前按推断背景视图分组，不等于已核验独立视频/地点；没有独立test。UAV使用native boxes，bird仅保留用于错误分析。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experiments/MATCHED92.md；docs/results/yolo26n_baseline_20261025.json；docs/results/yolo26n_pconv_20261026.json；docs/results/yolo26n_p2_fp32_20261028.json；configs/models/README.md。公共预训练前缀0–16，B0/P2载入348张量、B1载入342张量，尾部随机初始化。B0有部分第93轮，B1/P2为92完整轮。P2验证和best选择为FP32，与历史AMP选择不相同；单seed结果不支持结构因果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docs/results/yolo26n_baseline_20261025.md/json；docs/results/yolo26n_pconv_20261026.md/json。历史standalone最终复验，不覆盖为后续FP32诊断。B0 best第81轮，B1 best第68轮。B1训练92轮exit0，但11行验证loss NaN导致严格队列exit1。B0也有7行NaN。历史CSV保留，有限权重/检测指标不代表历史验证loss全部有限。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docs/results/numerical_replay_20261028.json/md。B0 stored epoch30、updates834；B1 stored epoch10、updates384，分别对应第31/11完成轮次，EMA身份和浮点状态已实核。batch8，505同序图像，共64批。两份最终best在两精度均无异常。27个异常AMP批相同raw预测转FP32 loss仍异常。首个捕获顶层异常model.22.C3k2；尚未定位内部算子，也未逐一覆盖所有历史epoch，不能归因于PConv。参数和BN前后哈希不变，无梯度回放。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esults/numerical_replay_20261028.json/md；docs/results/yolo26n_p2_fp32_20261028.json/md。B0/B1是同一官方训练validator路径的独立FP32复验；P2训练AMP但逐轮验证和best选择FP32。复验使用544x672矩形批，与旧standalone后端、批次、预处理路径有差异，不能把变化只归因于精度。P2并未超过B0，不能宣称架构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esults/yolo26n_p2_fp32_20261028.json/md。实际92完整轮，matched_complete_epoch_limit，exit0。92行CSV连续且所有列有限，92条precision日志为FP32/505图，真实训练AMP保持。最终best完整505验证，参数/BN前后不变。全部29文件归档/成员SHA通过并ACK0，云平台已核验停机。CSV最高AP50:95第89轮，不当作额外EMA张量身份核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docs/results/infrared_fp32_reference_20261028.json/md；docs/results/infrared_sequence_readiness_20261028.json。作者Anti-UAV发布入口链接ModelScope ly261666/3rd_Anti-UAV。在任何模型执行前冻结字典序首validation/01_2192_0001-1500的帧1–300，所有帧均有目标。conf0.25，matchingIoU0.5，batch1，640square letterbox，one-to-one，无额外NMS。MacCPU Torch2.14.1 FP32参考，不是Pi/H10或云Torch2.1.2验证。原始预测有限、参数/BN未变、无训练。未使用素材调阈值或校准。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docs/results/infrared_sequence_readiness_20261028.json；docs/results/infrared_fp32_reference_20261028.json。300JPG和标注校验通过；与3000幅SIRST源图像无像素完全匹配，但无法证明来源视频独立。CSV Type与validation路径不一致的异常保留，仅新参考使用，不校准/训练/调阈值。没有目标缺失帧，不能估算背景误报/小时。原捕获帧率未知，25fps只是预览重建示意。未将来源媒体或带框视频重新分发到公共仓库。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docs/deployment/READINESS_20261028.md；configs/models/README.md；Ultralytics Hailo docs https://docs.ultralytics.com/integrations/hailo/。设备HAILO10H、RT/firmware5.1.1已实核；本项目新HEF编译、parse/configure、首帧及完整配对都未完成。默认exporter包含量化后finetune，需先编制隔离statistics-only校准协议，禁用finetune/Adaround/QAT，不在Windows训练。校准只用1438train，排除505val和新视频。先FP32/ONNX同输入一致性，再HEF验证。既有RGB HEF/性能不可冒充本模型。设备benchmark预热20，75/150/300嵌套前缀，3重复；完整视频/显示编码另测。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依据见docs/results/yolo26n_baseline_20261025.md、yolo26n_pconv_20261026.md、numerical_replay_20261028.md、yolo26n_p2_fp32_20261028.md、infrared_fp32_reference_20261028.md，以及docs/deployment/READINESS_20261028.md。当前报告为两页IEEE快照，已合并P2和诊断，待设备结果齐全后再同步IR和设备结论，保持原观测与模板。局限：单seed、推断背景划分、无独立test、序列单一、验证精度/路径变化。不得宣称PConv/P2提升或H10部署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53a9b133a4b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f0544670c4a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3883323864e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99269e8474e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6894b02df43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8d8f6bd01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E89F38-2BF5-44E1-8753-D46C7FD93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5B1450-505F-4895-A423-80D0011E04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EE8252-0C6D-4672-BB49-21A51B0F99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DC9461-6B7A-40A2-AF57-FAA3FB0F1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0DD799-3DA8-432D-9B9F-196BE7FB1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85710D-1C54-4120-AE3E-21D8614753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8C60D4-68EE-426B-81E8-1EAB952BF5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8BE6B1-3731-49D7-97D6-F55551B5DE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6D23FB-4749-4790-8ACC-CD1DB554A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CD1570-1C8F-4866-85E0-F257310588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1ac528ca2047e7" /><Relationship Type="http://schemas.openxmlformats.org/officeDocument/2006/relationships/slideLayout" Target="/ppt/slideLayouts/slideLayout1.xml" Id="Rb3082f9d97d24337" /><Relationship Type="http://schemas.openxmlformats.org/officeDocument/2006/relationships/slideLayout" Target="/ppt/slideLayouts/slideLayout2.xml" Id="Rb7b96eb1bfdc42c4" /><Relationship Type="http://schemas.openxmlformats.org/officeDocument/2006/relationships/slideLayout" Target="/ppt/slideLayouts/slideLayout3.xml" Id="Rbe5f7b274330420d" /><Relationship Type="http://schemas.openxmlformats.org/officeDocument/2006/relationships/slideLayout" Target="/ppt/slideLayouts/slideLayout4.xml" Id="R0e66137da867498d" /><Relationship Type="http://schemas.openxmlformats.org/officeDocument/2006/relationships/slideLayout" Target="/ppt/slideLayouts/slideLayout5.xml" Id="Rc844652dfa6c4d35" /><Relationship Type="http://schemas.openxmlformats.org/officeDocument/2006/relationships/slideLayout" Target="/ppt/slideLayouts/slideLayout6.xml" Id="Rd9105368363a49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082f9d97d24337"/>
    <p:sldLayoutId xmlns:r="http://schemas.openxmlformats.org/officeDocument/2006/relationships" id="2147483650" r:id="Rb7b96eb1bfdc42c4"/>
    <p:sldLayoutId xmlns:r="http://schemas.openxmlformats.org/officeDocument/2006/relationships" id="2147483651" r:id="Rbe5f7b274330420d"/>
    <p:sldLayoutId xmlns:r="http://schemas.openxmlformats.org/officeDocument/2006/relationships" id="2147483652" r:id="R0e66137da867498d"/>
    <p:sldLayoutId xmlns:r="http://schemas.openxmlformats.org/officeDocument/2006/relationships" id="2147483653" r:id="Rc844652dfa6c4d35"/>
    <p:sldLayoutId xmlns:r="http://schemas.openxmlformats.org/officeDocument/2006/relationships" id="2147483654" r:id="Rd9105368363a49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b23791b5f145f9" /><Relationship Type="http://schemas.openxmlformats.org/officeDocument/2006/relationships/notesSlide" Target="/ppt/notesSlides/notesSlide1.xml" Id="R034da411ef1047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dc3cc7fea46c4" /><Relationship Type="http://schemas.openxmlformats.org/officeDocument/2006/relationships/notesSlide" Target="/ppt/notesSlides/notesSlide2.xml" Id="R02688e88dd8f4c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fc64cb69c49c7" /><Relationship Type="http://schemas.openxmlformats.org/officeDocument/2006/relationships/notesSlide" Target="/ppt/notesSlides/notesSlide3.xml" Id="R12cb2de2ba134d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c5a6125e045a9" /><Relationship Type="http://schemas.openxmlformats.org/officeDocument/2006/relationships/notesSlide" Target="/ppt/notesSlides/notesSlide4.xml" Id="Ra75e29b3e76c4b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7e4ac99df844f4" /><Relationship Type="http://schemas.openxmlformats.org/officeDocument/2006/relationships/notesSlide" Target="/ppt/notesSlides/notesSlide5.xml" Id="Rba5cf34d48784c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4a2b98de3499e" /><Relationship Type="http://schemas.openxmlformats.org/officeDocument/2006/relationships/notesSlide" Target="/ppt/notesSlides/notesSlide6.xml" Id="Rca3cdafd36b94d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cebe3fc70432c" /><Relationship Type="http://schemas.openxmlformats.org/officeDocument/2006/relationships/notesSlide" Target="/ppt/notesSlides/notesSlide7.xml" Id="R43ce615db42449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d1d43006d4613" /><Relationship Type="http://schemas.openxmlformats.org/officeDocument/2006/relationships/notesSlide" Target="/ppt/notesSlides/notesSlide8.xml" Id="R3633ec6574e540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1a2f8cd0c4790" /><Relationship Type="http://schemas.openxmlformats.org/officeDocument/2006/relationships/notesSlide" Target="/ppt/notesSlides/notesSlide9.xml" Id="Rcbf61cd70e024f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8332b429c4fe2" /><Relationship Type="http://schemas.openxmlformats.org/officeDocument/2006/relationships/notesSlide" Target="/ppt/notesSlides/notesSlide10.xml" Id="R7e16a2f2255e4d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c7035316545d4" /><Relationship Type="http://schemas.openxmlformats.org/officeDocument/2006/relationships/notesSlide" Target="/ppt/notesSlides/notesSlide11.xml" Id="Rfb93d969c2cc4d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66c4f89bc44e49" /><Relationship Type="http://schemas.openxmlformats.org/officeDocument/2006/relationships/notesSlide" Target="/ppt/notesSlides/notesSlide12.xml" Id="R54a5972b6c4043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B4EC3-8B6B-4818-984F-0EB1B9BB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实验汇报 · 2026 / 10 / 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A3A66-8BC6-4319-ACFA-82F31EE8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YOLO26 红外小目标无人机检测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98E2A-4DA2-491B-8AE3-614BD33A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FC073-F7BE-4BBD-B68A-918BA65F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实验状态截点：训练、数值诊断和序列参考已完成；H10 配对实测待完成。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79416-483C-4D4E-8D38-57BEE920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592C9-4013-48D4-981A-99B33248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结构比较、NaN 诊断</a:t>
            </a:r>
          </a:p>
          <a:p xmlns:a="http://schemas.openxmlformats.org/drawingml/2006/main">
            <a:pPr>
              <a:def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与真实红外序列参考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AE79D-C22E-4A43-9320-FA4E6848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PConv / P2 未获得优于基线的证据。</a:t>
            </a:r>
          </a:p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FP32 验证恢复后，P2 的 92 轮数值全部有限。</a:t>
            </a:r>
          </a:p>
        </p:txBody>
      </p:sp>
    </p:spTree>
    <p:extLst>
      <p:ext uri="{BB962C8B-B14F-4D97-AF65-F5344CB8AC3E}">
        <p14:creationId xmlns:p14="http://schemas.microsoft.com/office/powerpoint/2010/main" val="9529654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27E58-DE79-4282-9D6D-5ECEE17A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01 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D6489-BE17-4F8C-A5E1-F73ADF0F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用三种结构检验两项改动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0B555-7BD0-4B5A-9FCB-D2680660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5D034-BF7E-4139-9A93-74469B14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来源：configs/models/README.md；docs/proposal/proposal.tex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F0B40-D073-4CC8-B318-A4AF490D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A004D-D3B0-4085-A811-D39F8DE3EAA7}"/>
              </a:ext>
            </a:extLst>
          </p:cNvPr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5048250"/>
                <a:gridCol w="4495800"/>
              </a:tblGrid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结构变化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研究假设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YOLO26n；步长 8 / 16 / 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作为原始基线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1 层替换为 PConv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检验浅层特征提取的作用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增加步长 4 的检测分支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检验高分辨率特征的作用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0999C-4D4B-4288-9415-BA9345B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保留 one-to-one 端到端输出；实际收益由固定数据上的结果判断。</a:t>
            </a:r>
          </a:p>
        </p:txBody>
      </p:sp>
    </p:spTree>
    <p:extLst>
      <p:ext uri="{BB962C8B-B14F-4D97-AF65-F5344CB8AC3E}">
        <p14:creationId xmlns:p14="http://schemas.microsoft.com/office/powerpoint/2010/main" val="1186240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F095D-ED28-4F02-94C2-DD80A122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02 数据与标注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928BF-0743-4275-B3EA-33F23F24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先隔离重复图像，再固定背景视图留出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24029-4A53-4549-BCBC-8830783C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5BF3F-9997-495F-A9F2-83F5B526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来源：固定划分 README / source_manifest.csv；docs/datasets/SOURCES.md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27A0C-7CA1-48C9-AB42-6671D7CD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3AEEE-C802-4A99-B9DD-36DD12574C6E}"/>
              </a:ext>
            </a:extLst>
          </p:cNvPr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286000"/>
                <a:gridCol w="2914650"/>
                <a:gridCol w="2914650"/>
              </a:tblGrid>
              <a:tr h="781050"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固定集合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UAV 原生框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保留的 bird 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</a:tr>
              <a:tr h="781050"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训练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1,438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1,421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  <a:tr h="781050"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505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491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227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DDF04-27A9-4196-A88F-2FCB456D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原始划分存在 496 组跨集合像素重复，另有 3 组标注冲突。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BE500-1B29-4BB4-976D-567A97B2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当前划分零像素重复；来源视频 ID 缺失，独立性仍有限。</a:t>
            </a:r>
          </a:p>
        </p:txBody>
      </p:sp>
    </p:spTree>
    <p:extLst>
      <p:ext uri="{BB962C8B-B14F-4D97-AF65-F5344CB8AC3E}">
        <p14:creationId xmlns:p14="http://schemas.microsoft.com/office/powerpoint/2010/main" val="318122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742F0-5215-4BFB-891F-47E6BA1A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03 实验协议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1B5AE-DD33-41AE-BCBA-E01004CD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保持主要训练设置，披露评价方式变化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F5E6E-B223-4413-8265-E7BAEEC6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5F7FF-C500-48FE-B40E-2B290A14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来源：docs/experiments/MATCHED92.md；各组结果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087BC-9825-4B0C-9F33-1726D1CC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196A7-C409-48B2-A9B2-5EA4BA769CC8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三组共用 / 实际差异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数据与优化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 1,438 / 505；batch 4；seed 42；AdamW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学习率计划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 300 轮计划，在第 92 个完整轮次结束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训练精度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AMP；使用官方预训练的共同前缀初始化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  <a:tr h="6477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评价差异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 / B1 历史 AMP；P2 逐轮与 best 选择使用 FP32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50943-95F4-4D28-8D58-6CDAD918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B0 还执行了部分第 93 轮；本次比较只有一个随机种子。</a:t>
            </a:r>
          </a:p>
        </p:txBody>
      </p:sp>
    </p:spTree>
    <p:extLst>
      <p:ext uri="{BB962C8B-B14F-4D97-AF65-F5344CB8AC3E}">
        <p14:creationId xmlns:p14="http://schemas.microsoft.com/office/powerpoint/2010/main" val="606822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1759C-EE78-4687-BD90-EC50370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04 历史最终复验 · 保留原观测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AA11F-91E0-42D3-81DD-47FFFF2F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历史结果未显示 PConv 提升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E34CD-0D36-455C-808D-FDEDF00F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F333F-49DC-43A3-B9C0-7C88715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来源：yolo26n_baseline_20261025 / yolo26n_pconv_20261026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1EADC-D0D7-49CF-9480-35DA7E34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662DD-18F5-488D-B558-988CA5D25E79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905000"/>
                <a:gridCol w="1905000"/>
                <a:gridCol w="2295525"/>
                <a:gridCol w="2295525"/>
              </a:tblGrid>
              <a:tr h="793750"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历史模型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 (%)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 (%)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AP50 (%)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AP50:95 (%)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</a:tr>
              <a:tr h="793750"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66.5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49.2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56.2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23.2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  <a:tr h="793750"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B1 PConv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41.6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37.8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35.8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68EB6-481C-456B-87C6-5FF85D7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975722"/>
                </a:solidFill>
                <a:latin typeface="Arial Unicode MS"/>
                <a:ea typeface="Arial Unicode MS"/>
                <a:cs typeface="Arial Unicode MS"/>
              </a:rPr>
              <a:t>验证损失曾出现 NaN：B0 为 7 轮，B1 为 11 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2D211-D57D-47F7-9426-AF1B377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最终权重有限、训练退出成功，仍不足以通过历史数值检查。</a:t>
            </a:r>
          </a:p>
        </p:txBody>
      </p:sp>
    </p:spTree>
    <p:extLst>
      <p:ext uri="{BB962C8B-B14F-4D97-AF65-F5344CB8AC3E}">
        <p14:creationId xmlns:p14="http://schemas.microsoft.com/office/powerpoint/2010/main" val="100444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E9D7A-4FDD-4D38-B3ED-28B69076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05 原 CUDA 环境 · 同序 505 幅 / 64 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2249D-872F-4A6F-8572-E79375CB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早期 EMA 的异常出现在 AMP 前向路径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94703-9D09-4BEF-B04F-467B8677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22623-2186-464F-84E7-796B15C4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来源：docs/results/numerical_replay_20261028.json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77D30-8B54-4A64-B091-3110063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9EDE0-7E5C-459E-8E28-F873728DE830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9550"/>
                <a:gridCol w="2381250"/>
                <a:gridCol w="2286000"/>
                <a:gridCol w="2286000"/>
              </a:tblGrid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EMA updates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AMP 异常批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FP32 异常批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 · stored epoch 30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834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B1 · stored epoch 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384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24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 / B1 最终 best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已剥离训练状态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均为 0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均为 0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E3B2A-5FB8-4DF8-92D9-44903348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首个顶层异常：model.22.C3k2；异常 AMP 预测改用 FP32 loss 仍异常。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743C8-CB39-4E95-A913-C537064B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已定位到精度相关路径，尚未锁定内部算子或全部历史轮次。</a:t>
            </a:r>
          </a:p>
        </p:txBody>
      </p:sp>
    </p:spTree>
    <p:extLst>
      <p:ext uri="{BB962C8B-B14F-4D97-AF65-F5344CB8AC3E}">
        <p14:creationId xmlns:p14="http://schemas.microsoft.com/office/powerpoint/2010/main" val="2036586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3F9DC-FBC9-4589-ADF9-348EBACB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06 新评价路径 · 与历史表分别报告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2C590-76C1-4C68-8F68-858C137A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FP32 验证恢复有效，P2 仍低于 B0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593FD-47D3-4D6A-8208-F7B9322F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E17A5-4305-4530-BD2A-9340BD91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来源：numerical_replay_20261028；yolo26n_p2_fp32_20261028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5298D-D5C8-4C4B-9833-626D3568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FC1B5-792A-4EC9-891B-7FE11FE9D958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283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62300"/>
                <a:gridCol w="1809750"/>
                <a:gridCol w="1809750"/>
                <a:gridCol w="2095500"/>
                <a:gridCol w="2095500"/>
              </a:tblGrid>
              <a:tr h="709613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FP32 训练验证路径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 (%)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 (%)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AP50 (%)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AP50:95 (%)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</a:tr>
              <a:tr h="709613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 · 独立复验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67.918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49.287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57.339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23.087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  <a:tr h="709613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B1 · 独立复验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40.057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38.086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35.523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14.026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P2 · 新恢复实验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57.223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46.589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47.405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20.652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BC333-A273-4928-AD78-C9DD54FB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P2 的 best 选择为 FP32；B0 / B1 历史选择为 AMP。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BA185-A280-45BC-A4DD-349E7EBC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矩形批、验证后端与预处理路径也有差异，不能直接作结构因果比较。</a:t>
            </a:r>
          </a:p>
        </p:txBody>
      </p:sp>
    </p:spTree>
    <p:extLst>
      <p:ext uri="{BB962C8B-B14F-4D97-AF65-F5344CB8AC3E}">
        <p14:creationId xmlns:p14="http://schemas.microsoft.com/office/powerpoint/2010/main" val="473433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F99C5-24CA-4880-BB41-A10F0840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07 恢复实验收尾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62E7B-5CAD-4AF4-BF04-39304001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P2 完成 92 轮，并通过严格数值检查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E320A-E0E9-4D7F-9E86-0B182113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3DF37-D97F-42FC-8B19-B507AEA8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来源：docs/results/yolo26n_p2_fp32_20261028.json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511CB-A2D7-4C4D-8041-5B84FB77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F36FB-E6BB-48D9-8DD7-D97497FB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92 / 92 轮：训练与验证 CSV 全部列有限。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2D9B2-4B72-453A-B8EE-BEA9C687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每轮 505 幅：训练保持 AMP，验证统一为 FP32。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13FA4-3F17-4399-AB34-5286043B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最终 best 复验：参数与 BN 状态前后不变。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0E64C-3795-4026-9F40-9E291D5D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29 份成果文件：全部 SHA 核验通过，训练平台已关机。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7EFF6-A059-4738-B980-80C1C1EF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FP32 是本项目已实测的验证恢复方案；历史 NaN 记录原样保留。</a:t>
            </a:r>
          </a:p>
        </p:txBody>
      </p:sp>
    </p:spTree>
    <p:extLst>
      <p:ext uri="{BB962C8B-B14F-4D97-AF65-F5344CB8AC3E}">
        <p14:creationId xmlns:p14="http://schemas.microsoft.com/office/powerpoint/2010/main" val="584520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62883-C360-46A1-8D98-B763BA18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08 冻结序列参考 · 完整 B0 best / 无梯度 FP32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3E5F4-04CC-45B2-9D6A-37F4894C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真实红外序列：精度较高，召回率仅 20%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488C6-8DE0-48F1-8589-B6D43B63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96CD2-32E1-498A-AECA-932224F7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来源：docs/results/infrared_fp32_reference_20261028.json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37B17-9728-4966-99ED-14C191C3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10EBF-5215-46AA-B689-2BDDB77A9177}"/>
              </a:ext>
            </a:extLst>
          </p:cNvPr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00550"/>
                <a:gridCol w="2190750"/>
                <a:gridCol w="2190750"/>
                <a:gridCol w="2190750"/>
              </a:tblGrid>
              <a:tr h="838200"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帧级计数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</a:tr>
              <a:tr h="838200"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300 帧 / 300 个目标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C1755-4DAE-47BC-BC97-2DF98000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P  92.31%     R  20.00%     F1  32.88%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D08CE-2AF0-4C43-8B6F-CBFAF3BD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conf = 0.25；匹配 IoU = 0.5；所有帧均有目标。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C9ED6-A830-4B56-BDDD-C62A58B1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本机 CPU 参考用于检查检测行为，不代表 Pi / H10 速度。</a:t>
            </a:r>
          </a:p>
        </p:txBody>
      </p:sp>
    </p:spTree>
    <p:extLst>
      <p:ext uri="{BB962C8B-B14F-4D97-AF65-F5344CB8AC3E}">
        <p14:creationId xmlns:p14="http://schemas.microsoft.com/office/powerpoint/2010/main" val="9923443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576EB-76CD-4F9E-B2A2-0E114EA4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09 序列参考的解释边界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2800E-7989-4AEE-AC3F-EAC90DDB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300 连续帧不能当作 300 个独立场景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E9D01-0EA3-4B00-B0E0-4AF66712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77523-1138-4BB9-890E-7364D32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来源：infrared_sequence_readiness_20261028；infrared_fp32_reference_20261028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A6697-0CDF-4A31-834D-8EB1FE04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5E5DB-2D46-416A-9525-FF0D3DF0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只有一段连续序列；帧间存在时间相关性。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8DA4D-5FB4-4CFC-BC0E-0D45C79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与 SIRST-UAVB 无完全相同像素，来源视频独立性仍未证实。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8CBE3-F827-4050-82FE-F4DFD93F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没有无目标帧，不能估计背景误报 / 小时。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3336B-34FC-412C-A937-939FA08F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原捕获帧率未知；25 fps 预览仅为示意重建。</a:t>
            </a:r>
          </a:p>
        </p:txBody>
      </p:sp>
    </p:spTree>
    <p:extLst>
      <p:ext uri="{BB962C8B-B14F-4D97-AF65-F5344CB8AC3E}">
        <p14:creationId xmlns:p14="http://schemas.microsoft.com/office/powerpoint/2010/main" val="16358957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A7007-D3AD-4EC0-B4EE-3A18C637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10 设备部署 · 下一阶段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FB034-D150-4619-84E5-A0E95E41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H10 已确认运行环境，YOLO26 HEF 尚未编译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F4B0B-D8F0-4E03-8C50-E30EB0D5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EA6A8-F858-49B4-9313-DC1F2AE8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来源：docs/deployment/READINESS_20261028.md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42E6B-BE00-4279-BAA9-70DB36C9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4DE99-7F61-4F0D-A6BD-4A33C8A2DF20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622935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T w="9525">
                      <a:solidFill>
                        <a:srgbClr val="C7D6DC"/>
                      </a:solidFill>
                      <a:prstDash val="solid"/>
                    </a:lnT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</a:tr>
              <a:tr h="62293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设备运行环境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HAILO10H；HailoRT / 固件 5.1.1 已确认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  <a:tr h="62293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隔离导出与校准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待实施；仅 train 统计校准，禁用梯度微调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模型一致性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待做 FP32 → ONNX → HEF 配对检查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E9F3F3"/>
                    </a:solidFill>
                  </a:tcPr>
                </a:tc>
              </a:tr>
              <a:tr h="62293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实际性能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6DC"/>
                      </a:solidFill>
                      <a:prstDash val="solid"/>
                    </a:lnL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42D3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待测同一 JPEG 输入与完整视频路径；暂无 H10 FPS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6DC"/>
                      </a:solidFill>
                      <a:prstDash val="solid"/>
                    </a:lnR>
                    <a:lnB w="9525">
                      <a:solidFill>
                        <a:srgbClr val="C7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3D8A1-0430-4F6E-9639-A19DC3D5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以 AP 最高的 B0 完整 best 为部署候选，保留 one-to-one 输出语义。</a:t>
            </a:r>
          </a:p>
        </p:txBody>
      </p:sp>
    </p:spTree>
    <p:extLst>
      <p:ext uri="{BB962C8B-B14F-4D97-AF65-F5344CB8AC3E}">
        <p14:creationId xmlns:p14="http://schemas.microsoft.com/office/powerpoint/2010/main" val="16457199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F9B36-4267-4CB4-8867-3EB56F63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07F82"/>
                </a:solidFill>
                <a:latin typeface="Arial Unicode MS"/>
                <a:ea typeface="Arial Unicode MS"/>
                <a:cs typeface="Arial Unicode MS"/>
              </a:rPr>
              <a:t>11 结论与限制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7569E-BCBB-49F8-BF06-6A0452F3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下一步先完成配对部署，再同步最终报告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90E85-B816-468D-8FAD-91C9309C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5C75B-D014-4D9A-974E-A9178438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证据索引：docs/results/；docs/deployment/；docs/report/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E8556-2079-47B2-B792-B57D6425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26775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89215-D817-42A2-83AB-F9960D8B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结构：本次单种子结果不支持 PConv 或 P2 的精度收益。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8DE35-A2FC-4919-8429-3264EB22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数值：早期 EMA 的 AMP 异常已复现，FP32 验证恢复已实测。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98395-2354-4679-94B9-99460F2F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泛化：真实 IR 序列漏检明显，需要更多独立场景验证。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CA078-C6C0-4431-9BB0-EEB0E93F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D3B"/>
                </a:solidFill>
                <a:latin typeface="Arial Unicode MS"/>
                <a:ea typeface="Arial Unicode MS"/>
                <a:cs typeface="Arial Unicode MS"/>
              </a:rPr>
              <a:t>部署：完成无梯度统计校准、HEF 配对与实际设备 / 视频测量。</a:t>
            </a:r>
          </a:p>
        </p:txBody>
      </p:sp>
    </p:spTree>
    <p:extLst>
      <p:ext uri="{BB962C8B-B14F-4D97-AF65-F5344CB8AC3E}">
        <p14:creationId xmlns:p14="http://schemas.microsoft.com/office/powerpoint/2010/main" val="1531017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2026-10-27T21:45:32.4870000Z</dcterms:created>
  <dcterms:modified xsi:type="dcterms:W3CDTF">2026-10-27T21:45:32.4880000Z</dcterms:modified>
</coreProperties>
</file>